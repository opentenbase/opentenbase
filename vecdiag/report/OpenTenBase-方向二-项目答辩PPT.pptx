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08013bf65742bd" /><Relationship Type="http://schemas.openxmlformats.org/officeDocument/2006/relationships/extended-properties" Target="/docProps/app.xml" Id="Rbe05e67199e24f8d" /><Relationship Type="http://schemas.openxmlformats.org/officeDocument/2006/relationships/officeDocument" Target="/ppt/presentation.xml" Id="R92e92475df6d40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cfc9c024e04854"/>
  </p:sldMasterIdLst>
  <p:notesMasterIdLst>
    <p:notesMasterId xmlns:r="http://schemas.openxmlformats.org/officeDocument/2006/relationships" r:id="Raab7326abaab4f28"/>
  </p:notesMasterIdLst>
  <p:sldIdLst>
    <p:sldId xmlns:r="http://schemas.openxmlformats.org/officeDocument/2006/relationships" id="256" r:id="R5b3046186ce847fc"/>
    <p:sldId xmlns:r="http://schemas.openxmlformats.org/officeDocument/2006/relationships" id="257" r:id="R3c235016a2f14eec"/>
    <p:sldId xmlns:r="http://schemas.openxmlformats.org/officeDocument/2006/relationships" id="258" r:id="R5ce83167794b4d5f"/>
    <p:sldId xmlns:r="http://schemas.openxmlformats.org/officeDocument/2006/relationships" id="259" r:id="Rb4a2cbc626474612"/>
    <p:sldId xmlns:r="http://schemas.openxmlformats.org/officeDocument/2006/relationships" id="260" r:id="Rc856aff3443d4136"/>
    <p:sldId xmlns:r="http://schemas.openxmlformats.org/officeDocument/2006/relationships" id="261" r:id="Rc0200378b7ff4c9c"/>
    <p:sldId xmlns:r="http://schemas.openxmlformats.org/officeDocument/2006/relationships" id="262" r:id="Rbdea6f2b70e1468e"/>
    <p:sldId xmlns:r="http://schemas.openxmlformats.org/officeDocument/2006/relationships" id="263" r:id="Rc2f23cc32c424066"/>
    <p:sldId xmlns:r="http://schemas.openxmlformats.org/officeDocument/2006/relationships" id="264" r:id="R80061b1ac55a401f"/>
    <p:sldId xmlns:r="http://schemas.openxmlformats.org/officeDocument/2006/relationships" id="265" r:id="R450242c0de9848cf"/>
    <p:sldId xmlns:r="http://schemas.openxmlformats.org/officeDocument/2006/relationships" id="266" r:id="R338f0783e75e40f7"/>
    <p:sldId xmlns:r="http://schemas.openxmlformats.org/officeDocument/2006/relationships" id="267" r:id="R083e4678a39a4d3b"/>
    <p:sldId xmlns:r="http://schemas.openxmlformats.org/officeDocument/2006/relationships" id="268" r:id="Rd82a4394d5974d55"/>
    <p:sldId xmlns:r="http://schemas.openxmlformats.org/officeDocument/2006/relationships" id="269" r:id="R29278503aa5642d0"/>
    <p:sldId xmlns:r="http://schemas.openxmlformats.org/officeDocument/2006/relationships" id="270" r:id="R0deaa3f99a1f47d2"/>
    <p:sldId xmlns:r="http://schemas.openxmlformats.org/officeDocument/2006/relationships" id="271" r:id="R20b16e14bd6848f5"/>
    <p:sldId xmlns:r="http://schemas.openxmlformats.org/officeDocument/2006/relationships" id="272" r:id="Rcef3e3abbcab4a96"/>
    <p:sldId xmlns:r="http://schemas.openxmlformats.org/officeDocument/2006/relationships" id="273" r:id="Rba0fd993581b4ae0"/>
    <p:sldId xmlns:r="http://schemas.openxmlformats.org/officeDocument/2006/relationships" id="274" r:id="R8cf910661d064fa6"/>
    <p:sldId xmlns:r="http://schemas.openxmlformats.org/officeDocument/2006/relationships" id="275" r:id="R0df01e38b16e4d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97119eafe54b61" /><Relationship Type="http://schemas.openxmlformats.org/officeDocument/2006/relationships/slideMaster" Target="/ppt/slideMasters/slideMaster1.xml" Id="R5bcfc9c024e04854" /><Relationship Type="http://schemas.openxmlformats.org/officeDocument/2006/relationships/notesMaster" Target="/ppt/notesMasters/notesMaster1.xml" Id="Raab7326abaab4f28" /><Relationship Type="http://schemas.openxmlformats.org/officeDocument/2006/relationships/presProps" Target="/ppt/presProps.xml" Id="R10c86a82fb2b4815" /><Relationship Type="http://schemas.openxmlformats.org/officeDocument/2006/relationships/tableStyles" Target="/ppt/tableStyles.xml" Id="R297ddf1c341c4699" /><Relationship Type="http://schemas.openxmlformats.org/officeDocument/2006/relationships/slide" Target="/ppt/slides/slide1.xml" Id="R5b3046186ce847fc" /><Relationship Type="http://schemas.openxmlformats.org/officeDocument/2006/relationships/slide" Target="/ppt/slides/slide2.xml" Id="R3c235016a2f14eec" /><Relationship Type="http://schemas.openxmlformats.org/officeDocument/2006/relationships/slide" Target="/ppt/slides/slide3.xml" Id="R5ce83167794b4d5f" /><Relationship Type="http://schemas.openxmlformats.org/officeDocument/2006/relationships/slide" Target="/ppt/slides/slide4.xml" Id="Rb4a2cbc626474612" /><Relationship Type="http://schemas.openxmlformats.org/officeDocument/2006/relationships/slide" Target="/ppt/slides/slide5.xml" Id="Rc856aff3443d4136" /><Relationship Type="http://schemas.openxmlformats.org/officeDocument/2006/relationships/slide" Target="/ppt/slides/slide6.xml" Id="Rc0200378b7ff4c9c" /><Relationship Type="http://schemas.openxmlformats.org/officeDocument/2006/relationships/slide" Target="/ppt/slides/slide7.xml" Id="Rbdea6f2b70e1468e" /><Relationship Type="http://schemas.openxmlformats.org/officeDocument/2006/relationships/slide" Target="/ppt/slides/slide8.xml" Id="Rc2f23cc32c424066" /><Relationship Type="http://schemas.openxmlformats.org/officeDocument/2006/relationships/slide" Target="/ppt/slides/slide9.xml" Id="R80061b1ac55a401f" /><Relationship Type="http://schemas.openxmlformats.org/officeDocument/2006/relationships/slide" Target="/ppt/slides/slide10.xml" Id="R450242c0de9848cf" /><Relationship Type="http://schemas.openxmlformats.org/officeDocument/2006/relationships/slide" Target="/ppt/slides/slide11.xml" Id="R338f0783e75e40f7" /><Relationship Type="http://schemas.openxmlformats.org/officeDocument/2006/relationships/slide" Target="/ppt/slides/slide12.xml" Id="R083e4678a39a4d3b" /><Relationship Type="http://schemas.openxmlformats.org/officeDocument/2006/relationships/slide" Target="/ppt/slides/slide13.xml" Id="Rd82a4394d5974d55" /><Relationship Type="http://schemas.openxmlformats.org/officeDocument/2006/relationships/slide" Target="/ppt/slides/slide14.xml" Id="R29278503aa5642d0" /><Relationship Type="http://schemas.openxmlformats.org/officeDocument/2006/relationships/slide" Target="/ppt/slides/slide15.xml" Id="R0deaa3f99a1f47d2" /><Relationship Type="http://schemas.openxmlformats.org/officeDocument/2006/relationships/slide" Target="/ppt/slides/slide16.xml" Id="R20b16e14bd6848f5" /><Relationship Type="http://schemas.openxmlformats.org/officeDocument/2006/relationships/slide" Target="/ppt/slides/slide17.xml" Id="Rcef3e3abbcab4a96" /><Relationship Type="http://schemas.openxmlformats.org/officeDocument/2006/relationships/slide" Target="/ppt/slides/slide18.xml" Id="Rba0fd993581b4ae0" /><Relationship Type="http://schemas.openxmlformats.org/officeDocument/2006/relationships/slide" Target="/ppt/slides/slide19.xml" Id="R8cf910661d064fa6" /><Relationship Type="http://schemas.openxmlformats.org/officeDocument/2006/relationships/slide" Target="/ppt/slides/slide20.xml" Id="R0df01e38b16e4d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8945a8419343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0e8aa0a57d4b29" /><Relationship Type="http://schemas.openxmlformats.org/officeDocument/2006/relationships/notesMaster" Target="/ppt/notesMasters/notesMaster1.xml" Id="R19ef7d6eeeff4f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e5ca65031e493b" /><Relationship Type="http://schemas.openxmlformats.org/officeDocument/2006/relationships/notesMaster" Target="/ppt/notesMasters/notesMaster1.xml" Id="Rae8f793c99c344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adf8f62a7b46a5" /><Relationship Type="http://schemas.openxmlformats.org/officeDocument/2006/relationships/notesMaster" Target="/ppt/notesMasters/notesMaster1.xml" Id="R3a2ad8de33aa42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7890f708564bd7" /><Relationship Type="http://schemas.openxmlformats.org/officeDocument/2006/relationships/notesMaster" Target="/ppt/notesMasters/notesMaster1.xml" Id="R901819e8b31041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760313594b4ace" /><Relationship Type="http://schemas.openxmlformats.org/officeDocument/2006/relationships/notesMaster" Target="/ppt/notesMasters/notesMaster1.xml" Id="R2d1b6ecec0ae42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1bdc8d835b46ad" /><Relationship Type="http://schemas.openxmlformats.org/officeDocument/2006/relationships/notesMaster" Target="/ppt/notesMasters/notesMaster1.xml" Id="Radba31f0e7984d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b1a34664744731" /><Relationship Type="http://schemas.openxmlformats.org/officeDocument/2006/relationships/notesMaster" Target="/ppt/notesMasters/notesMaster1.xml" Id="R0aae241ab9844d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8d272638ca4983" /><Relationship Type="http://schemas.openxmlformats.org/officeDocument/2006/relationships/notesMaster" Target="/ppt/notesMasters/notesMaster1.xml" Id="R434068ec589a41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faba0bd8e9498e" /><Relationship Type="http://schemas.openxmlformats.org/officeDocument/2006/relationships/notesMaster" Target="/ppt/notesMasters/notesMaster1.xml" Id="R44423736e6d945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c531717b164cf5" /><Relationship Type="http://schemas.openxmlformats.org/officeDocument/2006/relationships/notesMaster" Target="/ppt/notesMasters/notesMaster1.xml" Id="Rf7872adce38541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5bdc77dbf347f0" /><Relationship Type="http://schemas.openxmlformats.org/officeDocument/2006/relationships/notesMaster" Target="/ppt/notesMasters/notesMaster1.xml" Id="Rf15e0db4bdb840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65865bdf5c4c3d" /><Relationship Type="http://schemas.openxmlformats.org/officeDocument/2006/relationships/notesMaster" Target="/ppt/notesMasters/notesMaster1.xml" Id="Rb8dec06f1d364a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613ea616cd4e25" /><Relationship Type="http://schemas.openxmlformats.org/officeDocument/2006/relationships/notesMaster" Target="/ppt/notesMasters/notesMaster1.xml" Id="R98baadfe076846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3f9dfaa4864382" /><Relationship Type="http://schemas.openxmlformats.org/officeDocument/2006/relationships/notesMaster" Target="/ppt/notesMasters/notesMaster1.xml" Id="Rbfcf5d6aceaf4de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2855008d964300" /><Relationship Type="http://schemas.openxmlformats.org/officeDocument/2006/relationships/notesMaster" Target="/ppt/notesMasters/notesMaster1.xml" Id="R5b29ef151dd443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9159b46ed94cad" /><Relationship Type="http://schemas.openxmlformats.org/officeDocument/2006/relationships/notesMaster" Target="/ppt/notesMasters/notesMaster1.xml" Id="Re9f3d50a9b7d4c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b7ddcce39a4dfe" /><Relationship Type="http://schemas.openxmlformats.org/officeDocument/2006/relationships/notesMaster" Target="/ppt/notesMasters/notesMaster1.xml" Id="Re7279b0383104d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5319cbd7ca4f77" /><Relationship Type="http://schemas.openxmlformats.org/officeDocument/2006/relationships/notesMaster" Target="/ppt/notesMasters/notesMaster1.xml" Id="R43e9b009660b4b9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28b2d3911224c3e" /><Relationship Type="http://schemas.openxmlformats.org/officeDocument/2006/relationships/notesMaster" Target="/ppt/notesMasters/notesMaster1.xml" Id="R61ee65d87a6e460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1c85bd3abb44074" /><Relationship Type="http://schemas.openxmlformats.org/officeDocument/2006/relationships/notesMaster" Target="/ppt/notesMasters/notesMaster1.xml" Id="R0015fbe68fd44f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/Users/blackevil/Documents/2026-学术材料/申请书/OpenTenBase-p2-vecdiag/vecdiag/results/perf-20260827/perf_compare.md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/Users/blackevil/Documents/2026-学术材料/申请书/OpenTenBase-p2-vecdiag/vecdiag/results/t05-20260826/upstream_inventory.txt</a:t>
            </a:r>
          </a:p>
          <a:p xmlns:a="http://schemas.openxmlformats.org/drawingml/2006/main">
            <a:r>
              <a:t>/Users/blackevil/Documents/2026-学术材料/申请书/OpenTenBase-p2-vecdiag/vecdiag/docs/00-requirements-and-scope.md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/Users/blackevil/Documents/2026-学术材料/申请书/OpenTenBase-p2-vecdiag/vecdiag/results/t05-20260826/upstream_inventory.txt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/Users/blackevil/Documents/2026-学术材料/申请书/OpenTenBase-p2-vecdiag/vecdiag/reproduce.sh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/Users/blackevil/Documents/2026-学术材料/申请书/OpenTenBase-p2-vecdiag/vecdiag/docs/M1-ivfflat-memory-model.md</a:t>
            </a:r>
          </a:p>
          <a:p xmlns:a="http://schemas.openxmlformats.org/drawingml/2006/main">
            <a:r>
              <a:t>/Users/blackevil/Documents/2026-学术材料/申请书/OpenTenBase-p2-vecdiag/vecdiag/sql/10_ivfflat_memory_model.sql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/Users/blackevil/Documents/2026-学术材料/申请书/OpenTenBase-p2-vecdiag/vecdiag/results/m1-r3-20260826/results.tsv</a:t>
            </a:r>
          </a:p>
          <a:p xmlns:a="http://schemas.openxmlformats.org/drawingml/2006/main">
            <a:r>
              <a:t>/Users/blackevil/Documents/2026-学术材料/申请书/OpenTenBase-p2-vecdiag/vecdiag/results/m1-r3-20260826/model_compare.csv</a:t>
            </a:r>
          </a:p>
          <a:p xmlns:a="http://schemas.openxmlformats.org/drawingml/2006/main">
            <a:r>
              <a:t>/Users/blackevil/Documents/2026-学术材料/申请书/OpenTenBase-p2-vecdiag/vecdiag/results/real-20260826/real_data_m1.csv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/Users/blackevil/Documents/2026-学术材料/申请书/OpenTenBase-p2-vecdiag/vecdiag/results/t44-20260827/anomaly_matrix.csv</a:t>
            </a:r>
          </a:p>
          <a:p xmlns:a="http://schemas.openxmlformats.org/drawingml/2006/main">
            <a:r>
              <a:t>/Users/blackevil/Documents/2026-学术材料/申请书/OpenTenBase-p2-vecdiag/vecdiag/docs/M1-ivfflat-memory-model.md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/Users/blackevil/Documents/2026-学术材料/申请书/OpenTenBase-p2-vecdiag/vecdiag/docs/M2-hnsw-spill-model.md</a:t>
            </a:r>
          </a:p>
          <a:p xmlns:a="http://schemas.openxmlformats.org/drawingml/2006/main">
            <a:r>
              <a:t>/Users/blackevil/Documents/2026-学术材料/申请书/OpenTenBase-p2-vecdiag/vecdiag/results/m2-20260826/hnsw_spill.csv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/Users/blackevil/Documents/2026-学术材料/申请书/OpenTenBase-p2-vecdiag/vecdiag/results/t35-20260827/prediction.txt</a:t>
            </a:r>
          </a:p>
          <a:p xmlns:a="http://schemas.openxmlformats.org/drawingml/2006/main">
            <a:r>
              <a:t>/Users/blackevil/Documents/2026-学术材料/申请书/OpenTenBase-p2-vecdiag/vecdiag/results/t35-20260827/spill_notice.txt</a:t>
            </a:r>
          </a:p>
          <a:p xmlns:a="http://schemas.openxmlformats.org/drawingml/2006/main">
            <a:r>
              <a:t>/Users/blackevil/Documents/2026-学术材料/申请书/OpenTenBase-p2-vecdiag/vecdiag/results/m2v-20260826/hnsw_validate.csv</a:t>
            </a:r>
          </a:p>
          <a:p xmlns:a="http://schemas.openxmlformats.org/drawingml/2006/main">
            <a:r>
              <a:t>/Users/blackevil/Documents/2026-学术材料/申请书/OpenTenBase-p2-vecdiag/vecdiag/results/rocky-20260827/m2fit/refit.txt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/Users/blackevil/Documents/2026-学术材料/申请书/OpenTenBase-p2-vecdiag/vecdiag/docs/M3-progress-and-stage-timing.md</a:t>
            </a:r>
          </a:p>
          <a:p xmlns:a="http://schemas.openxmlformats.org/drawingml/2006/main">
            <a:r>
              <a:t>/Users/blackevil/Documents/2026-学术材料/申请书/OpenTenBase-p2-vecdiag/vecdiag/results/phase_order.csv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/Users/blackevil/Documents/2026-学术材料/申请书/OpenTenBase-p2-vecdiag/vecdiag/results/phase_order.csv</a:t>
            </a:r>
          </a:p>
          <a:p xmlns:a="http://schemas.openxmlformats.org/drawingml/2006/main">
            <a:r>
              <a:t>/Users/blackevil/Documents/2026-学术材料/申请书/OpenTenBase-p2-vecdiag/vecdiag/results/eta_accuracy.csv</a:t>
            </a:r>
          </a:p>
          <a:p xmlns:a="http://schemas.openxmlformats.org/drawingml/2006/main">
            <a:r>
              <a:t>/Users/blackevil/Documents/2026-学术材料/申请书/OpenTenBase-p2-vecdiag/vecdiag/docs/M3-progress-and-stage-timing.md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/Users/blackevil/Documents/2026-学术材料/申请书/OpenTenBase-p2-vecdiag/vecdiag/results/eta_accuracy.csv</a:t>
            </a:r>
          </a:p>
          <a:p xmlns:a="http://schemas.openxmlformats.org/drawingml/2006/main">
            <a:r>
              <a:t>/Users/blackevil/Documents/2026-学术材料/申请书/OpenTenBase-p2-vecdiag/vecdiag/results/stage_weights_audit.csv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/Users/blackevil/Documents/2026-学术材料/申请书/OpenTenBase-p2-vecdiag/vecdiag/results/t35-20260827/eta_correction.txt</a:t>
            </a:r>
          </a:p>
          <a:p xmlns:a="http://schemas.openxmlformats.org/drawingml/2006/main">
            <a:r>
              <a:t>/Users/blackevil/Documents/2026-学术材料/申请书/OpenTenBase-p2-vecdiag/vecdiag/results/t35-20260827/rate_by_segment.txt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/Users/blackevil/Documents/2026-学术材料/申请书/OpenTenBase-p2-vecdiag/vecdiag/results/live-20260827/live.csv</a:t>
            </a:r>
          </a:p>
          <a:p xmlns:a="http://schemas.openxmlformats.org/drawingml/2006/main">
            <a:r>
              <a:t>/Users/blackevil/Documents/2026-学术材料/申请书/OpenTenBase-p2-vecdiag/vecdiag/docs/M6-realtime-monitor.md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/Users/blackevil/Documents/2026-学术材料/申请书/OpenTenBase-p2-vecdiag/vecdiag/results/param_pareto.csv</a:t>
            </a:r>
          </a:p>
          <a:p xmlns:a="http://schemas.openxmlformats.org/drawingml/2006/main">
            <a:r>
              <a:t>/Users/blackevil/Documents/2026-学术材料/申请书/OpenTenBase-p2-vecdiag/vecdiag/results/param_provenance.csv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/Users/blackevil/Documents/2026-学术材料/申请书/OpenTenBase-p2-vecdiag/vecdiag/results/diagnose_output.txt</a:t>
            </a:r>
          </a:p>
          <a:p xmlns:a="http://schemas.openxmlformats.org/drawingml/2006/main">
            <a:r>
              <a:t>/Users/blackevil/Documents/2026-学术材料/申请书/OpenTenBase-p2-vecdiag/vecdiag/docs/M4-diagnose-and-usability.md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/Users/blackevil/Documents/2026-学术材料/申请书/OpenTenBase-p2-vecdiag/vecdiag/results/t44-20260827/anomaly_matrix.csv</a:t>
            </a:r>
          </a:p>
          <a:p xmlns:a="http://schemas.openxmlformats.org/drawingml/2006/main">
            <a:r>
              <a:t>/Users/blackevil/Documents/2026-学术材料/申请书/OpenTenBase-p2-vecdiag/vecdiag/results/tap-20260827/tap_summary.txt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/Users/blackevil/Documents/2026-学术材料/申请书/OpenTenBase-p2-vecdiag/vecdiag/results/env-snapshot-20260826/environment-and-refs.txt</a:t>
            </a:r>
          </a:p>
          <a:p xmlns:a="http://schemas.openxmlformats.org/drawingml/2006/main">
            <a:r>
              <a:t>/Users/blackevil/Documents/2026-学术材料/申请书/OpenTenBase-p2-vecdiag/vecdiag/results/rocky-20260827/env-snapshot/env.txt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/Users/blackevil/Documents/2026-学术材料/申请书/OpenTenBase-p2-vecdiag/vecdiag/results/tap-20260827/tap.txt</a:t>
            </a:r>
          </a:p>
          <a:p xmlns:a="http://schemas.openxmlformats.org/drawingml/2006/main">
            <a:r>
              <a:t>/Users/blackevil/Documents/2026-学术材料/申请书/OpenTenBase-p2-vecdiag/vecdiag/results/t04-20260826/installcheck.log</a:t>
            </a:r>
          </a:p>
          <a:p xmlns:a="http://schemas.openxmlformats.org/drawingml/2006/main">
            <a:r>
              <a:t>/Users/blackevil/Documents/2026-学术材料/申请书/OpenTenBase-p2-vecdiag/vecdiag/results/t04-20260826/prove_installcheck.log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/Users/blackevil/Documents/2026-学术材料/申请书/OpenTenBase-p2-vecdiag/vecdiag/docs/00-requirements-and-scope.md</a:t>
            </a:r>
          </a:p>
          <a:p xmlns:a="http://schemas.openxmlformats.org/drawingml/2006/main">
            <a:r>
              <a:t>/Users/blackevil/Documents/2026-学术材料/申请书/OpenTenBase-p2-vecdiag/vecdiag/report/README.md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2a1396b24a45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259a6511d744c8" /><Relationship Type="http://schemas.openxmlformats.org/officeDocument/2006/relationships/slideLayout" Target="/ppt/slideLayouts/slideLayout1.xml" Id="R431d58c052df4c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1d58c052df4c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54948cf724119" /><Relationship Type="http://schemas.openxmlformats.org/officeDocument/2006/relationships/notesSlide" Target="/ppt/notesSlides/notesSlide1.xml" Id="Rb4a783ec7ea44b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49676d5644b84" /><Relationship Type="http://schemas.openxmlformats.org/officeDocument/2006/relationships/notesSlide" Target="/ppt/notesSlides/notesSlide2.xml" Id="R86f1ca9f6fe14f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1df8e1f044fce" /><Relationship Type="http://schemas.openxmlformats.org/officeDocument/2006/relationships/notesSlide" Target="/ppt/notesSlides/notesSlide3.xml" Id="Ree4302dee4d744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c4ecd667a41c9" /><Relationship Type="http://schemas.openxmlformats.org/officeDocument/2006/relationships/notesSlide" Target="/ppt/notesSlides/notesSlide4.xml" Id="Rd3291b6db9834b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ebb1f8aad4327" /><Relationship Type="http://schemas.openxmlformats.org/officeDocument/2006/relationships/notesSlide" Target="/ppt/notesSlides/notesSlide5.xml" Id="R1549ab3ea9ac4b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848417e224a24" /><Relationship Type="http://schemas.openxmlformats.org/officeDocument/2006/relationships/notesSlide" Target="/ppt/notesSlides/notesSlide6.xml" Id="R0b6e20df533441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9059b34574514" /><Relationship Type="http://schemas.openxmlformats.org/officeDocument/2006/relationships/notesSlide" Target="/ppt/notesSlides/notesSlide7.xml" Id="R8bb53f18aae542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d5032fd194cce" /><Relationship Type="http://schemas.openxmlformats.org/officeDocument/2006/relationships/notesSlide" Target="/ppt/notesSlides/notesSlide8.xml" Id="Rad182b4dc36144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48817d0db4c0b" /><Relationship Type="http://schemas.openxmlformats.org/officeDocument/2006/relationships/notesSlide" Target="/ppt/notesSlides/notesSlide9.xml" Id="R68340f65f21246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c4433bac54465" /><Relationship Type="http://schemas.openxmlformats.org/officeDocument/2006/relationships/notesSlide" Target="/ppt/notesSlides/notesSlide10.xml" Id="R6af000706d3443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6f402a1ae49a8" /><Relationship Type="http://schemas.openxmlformats.org/officeDocument/2006/relationships/notesSlide" Target="/ppt/notesSlides/notesSlide11.xml" Id="Rd5729c89587347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3525149a64f48" /><Relationship Type="http://schemas.openxmlformats.org/officeDocument/2006/relationships/notesSlide" Target="/ppt/notesSlides/notesSlide12.xml" Id="Rfbd48705a6ce49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db87cf2c84656" /><Relationship Type="http://schemas.openxmlformats.org/officeDocument/2006/relationships/notesSlide" Target="/ppt/notesSlides/notesSlide13.xml" Id="R626e0be0182341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c41b0e741487f" /><Relationship Type="http://schemas.openxmlformats.org/officeDocument/2006/relationships/notesSlide" Target="/ppt/notesSlides/notesSlide14.xml" Id="Rc60e0eddd26645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f0b6e61c647cc" /><Relationship Type="http://schemas.openxmlformats.org/officeDocument/2006/relationships/notesSlide" Target="/ppt/notesSlides/notesSlide15.xml" Id="R4557b5a9885042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f3affec41490b" /><Relationship Type="http://schemas.openxmlformats.org/officeDocument/2006/relationships/notesSlide" Target="/ppt/notesSlides/notesSlide16.xml" Id="R94622bc77dd34d4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93a057eb24424" /><Relationship Type="http://schemas.openxmlformats.org/officeDocument/2006/relationships/notesSlide" Target="/ppt/notesSlides/notesSlide17.xml" Id="R801db93db9114e8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247bc3ce94ea3" /><Relationship Type="http://schemas.openxmlformats.org/officeDocument/2006/relationships/notesSlide" Target="/ppt/notesSlides/notesSlide18.xml" Id="R5a650ea98a8149d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eee4ccffc416d" /><Relationship Type="http://schemas.openxmlformats.org/officeDocument/2006/relationships/notesSlide" Target="/ppt/notesSlides/notesSlide19.xml" Id="Ra828c6dbd403479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51813cde44b34" /><Relationship Type="http://schemas.openxmlformats.org/officeDocument/2006/relationships/notesSlide" Target="/ppt/notesSlides/notesSlide20.xml" Id="R894513fc06ac4c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EC847-6563-4566-85C5-11051DFD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1542C-2B53-420C-8AC8-6956254B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向量索引构建优化与诊断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3680A-B917-4724-86ED-395FF294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623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项目技术报告与可复现证据包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C5BBA-1B19-4D06-A89D-0F4E65F6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9433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B78"/>
          </a:solidFill>
          <a:ln xmlns:a="http://schemas.openxmlformats.org/drawingml/2006/main" w="0">
            <a:solidFill>
              <a:srgbClr val="1E8B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54789-206B-466C-A78D-9370EB29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2862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方向二 · PostgreSQL 18.6 / pgvector 0.8.6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DBF6D-9674-448E-A9B5-30B1FEC1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863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报告版本 2026-08-28 · 同步点 c5c1287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72C92-1730-4AB3-8E29-20D1F7C2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436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提交物：报告 PDF + 配套 PPT</a:t>
            </a:r>
          </a:p>
        </p:txBody>
      </p:sp>
    </p:spTree>
    <p:extLst>
      <p:ext uri="{BB962C8B-B14F-4D97-AF65-F5344CB8AC3E}">
        <p14:creationId xmlns:p14="http://schemas.microsoft.com/office/powerpoint/2010/main" val="21051033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23250-6517-4978-8B0C-10A7A58D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94818-6E58-4F12-A5FC-56916F0C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用户真正遇到的是：构建前不知道会发生什么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6C52D-8EC7-469A-9F86-6FD401E2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D2BB3-B48F-4187-9F75-7AC68B55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65318-1FE3-4394-8F62-B982B17D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8E7A3-2883-4E2D-AD03-1B69E12D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三个问题都发生在构建开始之后，诊断需要前移到构建之前。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C372F-921B-4910-BA74-C5106CA9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8E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46D6B-E01A-46FC-940A-0A6E2CC5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rPr>
              <a:t>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6B483-631D-49A1-829B-3291A261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IVFFlat 内存超限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0007C-031F-47DE-BDA8-CD96EA3C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8E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DAA55-E0BA-4924-92C7-F50E79C8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90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rPr>
              <a:t>NOTICE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CB949-9CA3-4437-B291-E45F0302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766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HNSW 图落盘降级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A6FD7-C1B6-4441-BDA3-218C8707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8E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A2F2D-CE3C-4CB0-8904-10172AAD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90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ETA?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900BE-7F1E-4F7B-8E99-7FAB2CF9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766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跨阶段进度不可比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A10FD6-3C8E-4482-92FE-56D77908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目标不是宣称构建加速，而是让用户在等待之前知道风险、在等待期间看懂进度。</a:t>
            </a:r>
          </a:p>
        </p:txBody>
      </p:sp>
    </p:spTree>
    <p:extLst>
      <p:ext uri="{BB962C8B-B14F-4D97-AF65-F5344CB8AC3E}">
        <p14:creationId xmlns:p14="http://schemas.microsoft.com/office/powerpoint/2010/main" val="18972927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E5323-C2AB-4B6E-A832-F97E5DB7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AE19F-48B7-45F5-8DC1-D43E52C7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上游已经有执行机制，但缺少构建前的判断层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9C2A3-66F3-4A84-80C4-A4BFD9FF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0AD2C-59BD-41CF-BB23-98435911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E22C0-51FB-434B-8E34-1149692C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113919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619750"/>
                <a:gridCol w="5772150"/>
              </a:tblGrid>
              <a:tr h="685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上游已有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本项目补充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IVFFlat 三次内存检查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构建前预测 C1/C2/C3 和 first_hit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HNSW memoryTotal + FlushPages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事前预测降级行号和内存建议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进度视图 + pgvector 阶段上报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跨阶段百分比、耗时分解和 ETA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个 GUC，全部查询/扫描侧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构建侧诊断与参数建议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56BD2-4DB9-4786-BFB9-ED6A74D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边界：上游源码零改动；不把 PostgreSQL/pgvector 已有能力说成原创。</a:t>
            </a:r>
          </a:p>
        </p:txBody>
      </p:sp>
    </p:spTree>
    <p:extLst>
      <p:ext uri="{BB962C8B-B14F-4D97-AF65-F5344CB8AC3E}">
        <p14:creationId xmlns:p14="http://schemas.microsoft.com/office/powerpoint/2010/main" val="2248424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1722B-B715-468A-A248-0E9A4191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E7575-A08A-406D-B8AC-22B313CC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一个仓库承载六个 SQL 模块，一条命令重跑全部验证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9FF7B-A44C-4A13-B95E-ACDE0CC0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1F1A2-2BBD-4FA4-8FC5-504F86A1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4F2BE-6AB3-426D-A930-9D35252B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B3FE3-13FF-460A-942F-383F9E93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观测层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8C600-BC83-4350-A614-2D9578CF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ERROR / NOTICE 原文</a:t>
            </a:r>
          </a:p>
          <a:p xmlns:a="http://schemas.openxmlformats.org/drawingml/2006/main">
            <a:pPr algn="l">
              <a:defRPr sz="165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pg_stat_progress_create_index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0E2C4-A3A7-4318-9E09-9B95824A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622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0DB86-93BB-4E9B-B7D4-1793F549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62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模型层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56EE8-AF31-42DF-8809-80827799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M1 内存 · M2 降级</a:t>
            </a:r>
          </a:p>
          <a:p xmlns:a="http://schemas.openxmlformats.org/drawingml/2006/main">
            <a:pPr algn="l">
              <a:defRPr sz="165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M3 阶段 · 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13E07-76BB-4F96-B871-FFA70DA8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3622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71764-F4B1-4EB4-A368-7FA6A7B1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62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工具层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88F9C-3C45-4903-9785-84AAF988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38375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M4 零参数体检</a:t>
            </a:r>
          </a:p>
          <a:p xmlns:a="http://schemas.openxmlformats.org/drawingml/2006/main">
            <a:pPr algn="l">
              <a:defRPr sz="165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M5 参数建议 · M6 实时监控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FD4F6-6387-4DBB-839F-2A693E9E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E2D4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DC8D4-56DD-473B-981F-7545FA21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1F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10231F"/>
                </a:solidFill>
                <a:latin typeface="Courier New"/>
                <a:ea typeface="Courier New"/>
                <a:cs typeface="Courier New"/>
              </a:rPr>
              <a:t>bash vecdiag/reproduce.sh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7C1D9-F59D-4CFB-8991-5BDD882C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13 步 · 环境、安装、M1-M6、异常矩阵、TAP、统一对比表</a:t>
            </a:r>
          </a:p>
        </p:txBody>
      </p:sp>
    </p:spTree>
    <p:extLst>
      <p:ext uri="{BB962C8B-B14F-4D97-AF65-F5344CB8AC3E}">
        <p14:creationId xmlns:p14="http://schemas.microsoft.com/office/powerpoint/2010/main" val="17031363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3C87F-14E3-4914-8248-48927B6B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69D83-401D-4166-BC92-7F523880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M1：IVFFlat 的关键不是一个总量，而是三个检查点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D0DEF-35FC-425A-AF50-7C95BAD8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19B5F-321A-4CE9-A34D-FC512FBB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1C9E5-61AB-4B8F-8F60-C686DDD0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0121A-2DAD-4B74-8B54-AC5968FF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E6B37-88A1-4DD4-91A1-9CD33F4E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centers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7074F-CFB7-44D0-880C-AE23262B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CE725-4CF6-46AC-8C80-FB209DDF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2034B-BA80-49A0-BA51-EEEF318E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47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+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3009B-D8CB-41F6-A623-DB7DDFC7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B072A-3B56-44FE-BE66-6AA2F034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09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21550-76C7-447F-83F0-E7CABBCD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479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+ k-means 9 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C0850-1E9E-424E-A151-88683BDE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1391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C"/>
          </a:solidFill>
          <a:ln xmlns:a="http://schemas.openxmlformats.org/drawingml/2006/main" w="9525">
            <a:solidFill>
              <a:srgbClr val="B9CF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730C0-89AA-4884-B4B9-9A295753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第一个越界的检查点决定报错数字。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0D217-4D8B-40CC-831C-B61CEA0F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模型必须同时返回 first_hit、三段累计值和真正所需的 maintenance_work_mem 下界。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C4031-3CAB-4F91-A2FE-6D1CF348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ABI：A=520 B；H=24 B（源码值，实测仅约束 &lt;252 B）；T=291。</a:t>
            </a:r>
          </a:p>
        </p:txBody>
      </p:sp>
    </p:spTree>
    <p:extLst>
      <p:ext uri="{BB962C8B-B14F-4D97-AF65-F5344CB8AC3E}">
        <p14:creationId xmlns:p14="http://schemas.microsoft.com/office/powerpoint/2010/main" val="829006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8CCFFF-D1D2-4EBB-B8E1-4E6B6F5C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2BAF9-3248-4315-B974-8D4889D7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M1 验证以“逐字命中”为标准，而不是“误差还可以”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2DF78-38AF-4D50-ACD9-31D0F2D4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7EA68-17F3-4B79-B641-B2C1DF0B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E013F-CB5C-4FED-837E-2B407F5E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DD73F-0324-46BD-BCF6-30EC794A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8E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845E3-DCB0-4410-9C74-CE2F7C85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18/18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80AB7-F93A-4C19-B79D-C73CD172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报错案例逐字命中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A3442-86BB-4694-AE0E-003DF42B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8E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94553-872A-43F7-9F97-42854614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193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2/2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1B21C-F271-43C9-8540-21EEA5AE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051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无报错案例可建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8929A-C544-417C-81CB-794E384D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8E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1CF67-9333-4CB2-A665-EA7BB85B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193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4/4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A2774-596F-43C5-9B05-FD5BA7AE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051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SIFT1M 抽查命中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45B63-CF34-4603-B855-F5893142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09750"/>
            <a:ext cx="2590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8E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0E9A0C-4686-494F-A8A0-36C5B4BB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193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rPr>
              <a:t>306×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28A905-67E1-40D4-A5A8-1664106C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旧公式最大高估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F18D0-DEFD-46B5-AAD6-2B31D1F7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1139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旧公式只会高估，不会低估：legacy ≥ C3 ≥ C2 ≥ C1。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FF9AF-68E6-4CA1-9B20-DCB55F3A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这不是为了凑指标删掉“低估”案例，而是用结构证明它不存在。</a:t>
            </a:r>
          </a:p>
        </p:txBody>
      </p:sp>
    </p:spTree>
    <p:extLst>
      <p:ext uri="{BB962C8B-B14F-4D97-AF65-F5344CB8AC3E}">
        <p14:creationId xmlns:p14="http://schemas.microsoft.com/office/powerpoint/2010/main" val="6287047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CA216-3D05-4D0E-B641-089F09E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25447-280F-4B87-A105-EBDC67E8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M1 的工程坑：报错里的 MB 不是你应该设置的内存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94C41-5995-4B9E-8E44-E3CDF719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4F943-8F5F-4B0F-BC2C-9804D85C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78FBA-1582-47A3-BC52-B838DBB7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3FF18-4CA3-47D5-886A-73DA3155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13919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E2D4B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0194F-3F8A-4263-AA34-E8E6D1B7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100,000 行 × 128 维 × lists=500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029B7-5C14-4792-A22E-D354BFD2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7069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587069"/>
                </a:solidFill>
                <a:latin typeface="Courier New"/>
                <a:ea typeface="Courier New"/>
                <a:cs typeface="Courier New"/>
              </a:rPr>
              <a:t>C1     253 kB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EA549-7BF0-49DB-8E42-22694F43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7069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587069"/>
                </a:solidFill>
                <a:latin typeface="Courier New"/>
                <a:ea typeface="Courier New"/>
                <a:cs typeface="Courier New"/>
              </a:rPr>
              <a:t>C2  12,949 kB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E6338-DDC3-44AF-ACD0-FEA550D4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8B78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E8B78"/>
                </a:solidFill>
                <a:latin typeface="Courier New"/>
                <a:ea typeface="Courier New"/>
                <a:cs typeface="Courier New"/>
              </a:rPr>
              <a:t>C3  63,459 kB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A191F-1A8D-44D8-B913-AF6989C6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rPr>
              <a:t>照报错设内存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5248A-BDD9-4D5E-B284-0A1338D7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037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rPr>
              <a:t>→ 只放行第一道门</a:t>
            </a:r>
          </a:p>
          <a:p xmlns:a="http://schemas.openxmlformats.org/drawingml/2006/main">
            <a:pPr algn="ctr">
              <a:defRPr sz="1800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rPr>
              <a:t>→ 第二次仍然失败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EA9CF-BB2D-43C2-8080-10B100A7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因此新增 ivfflat_min_mwm_kb()，把“报错写多少”和“该设多少”拆成两个问题。</a:t>
            </a:r>
          </a:p>
        </p:txBody>
      </p:sp>
    </p:spTree>
    <p:extLst>
      <p:ext uri="{BB962C8B-B14F-4D97-AF65-F5344CB8AC3E}">
        <p14:creationId xmlns:p14="http://schemas.microsoft.com/office/powerpoint/2010/main" val="9662772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6B148F-60A9-4708-8753-F517FFAE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16ACB-8D3F-4EB8-A567-F6021E41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M2：把 HNSW 的已有 NOTICE 反解成构建前预警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2FB00-C992-47D1-9543-E4D2BCDA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19D21-14F9-477B-ADB8-D6C1E7DE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6597A-E5AA-452F-A49C-DBBFBFA7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2AF77-16EF-4042-86F6-F91FE93F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上游已有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21C69-4775-4A47-B462-DC61C9F8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memoryTotal + FlushPages()</a:t>
            </a:r>
          </a:p>
          <a:p xmlns:a="http://schemas.openxmlformats.org/drawingml/2006/main">
            <a:pPr algn="l">
              <a:def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超限后 NOTICE，继续落盘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C8C6F-76A7-4BFE-B9F0-DB19D740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86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CC60E-8DBE-4D14-BE62-47A8E2A6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62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本项目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48A83-7A9C-49BD-9F88-EF7749E8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per_element ≈ maintenance_work_mem / N</a:t>
            </a:r>
          </a:p>
          <a:p xmlns:a="http://schemas.openxmlformats.org/drawingml/2006/main">
            <a:pPr algn="l">
              <a:def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预测降级行号、区间和内存建议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AF6A6-2CE0-4CF6-948C-AEE7BC4D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13919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C"/>
          </a:solidFill>
          <a:ln xmlns:a="http://schemas.openxmlformats.org/drawingml/2006/main" w="9525">
            <a:solidFill>
              <a:srgbClr val="B9CF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EF959-5BA7-4178-8A61-F455B0D3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1F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10231F"/>
                </a:solidFill>
                <a:latin typeface="Courier New"/>
                <a:ea typeface="Courier New"/>
                <a:cs typeface="Courier New"/>
              </a:rPr>
              <a:t>per_element(dims,m) = 206.4 + 31.89×m + 4×dims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AED54-97F7-474A-A375-A776D6CE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4×dims 是结构项；另两项是 fitted，换机器需重标定。</a:t>
            </a:r>
          </a:p>
        </p:txBody>
      </p:sp>
    </p:spTree>
    <p:extLst>
      <p:ext uri="{BB962C8B-B14F-4D97-AF65-F5344CB8AC3E}">
        <p14:creationId xmlns:p14="http://schemas.microsoft.com/office/powerpoint/2010/main" val="7968566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9E176-2DD7-4FD4-A718-A49723C7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2F800-02E4-4268-8C25-0A9643D9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M2：外样本成立，而且建议真的改变了结果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2AC45-3AB2-420E-9466-A0BD4A9F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38A1A-EEAF-44A8-BE5F-90BAE1B3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1E235-C045-4969-9782-BAE4F3BA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3919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333750"/>
                <a:gridCol w="8058150"/>
              </a:tblGrid>
              <a:tr h="6286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验证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 MB 外样本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预测 51206 / 实测 51267，偏差 0.12%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 MB 外样本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预测 17068 / 实测 17100，偏差 0.19%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建议有效性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MB：NOTICE 消失；4.5 MB：NOTICE 重现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点预测全量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 组均在预测区间内，平均误差 1.20%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BE9EB-AC72-494A-959A-DD4A23A9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预测准确 ≠ 建议有用，所以必须做双向验证。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1D9D4-8792-41D0-A531-BD76E9CD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Rocky 19 点重拟合：均值残差 0.145%，最大 0.554%，网格外 m=24 误差 0.00%。</a:t>
            </a:r>
          </a:p>
        </p:txBody>
      </p:sp>
    </p:spTree>
    <p:extLst>
      <p:ext uri="{BB962C8B-B14F-4D97-AF65-F5344CB8AC3E}">
        <p14:creationId xmlns:p14="http://schemas.microsoft.com/office/powerpoint/2010/main" val="20676218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691CF-8740-4DCC-9BC7-2789419A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1D314-7AA1-4049-88A5-23D88805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M3：进度视图是上游已有的，我们补的是跨阶段可比性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90973-B30F-41C0-9484-C3CD111B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E9AB3-7503-49EB-A7B3-2FF6EF07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AAA62-B8F0-4853-9578-ED82902B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6B96E-9EF8-4613-B69B-192878BC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上游视图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F323E-FC42-414B-ACE2-5105E6CB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当前 phase</a:t>
            </a:r>
          </a:p>
          <a:p xmlns:a="http://schemas.openxmlformats.org/drawingml/2006/main">
            <a:pPr algn="l">
              <a:def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部分 blocks/tuples 计数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FC8A2-76C3-43B9-AB82-AE372D6E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本项目增量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F2FE7-1C27-4E26-891D-BB809A34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阶段耗时分解</a:t>
            </a:r>
          </a:p>
          <a:p xmlns:a="http://schemas.openxmlformats.org/drawingml/2006/main">
            <a:pPr algn="l">
              <a:def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加权百分比 + ETA</a:t>
            </a:r>
          </a:p>
          <a:p xmlns:a="http://schemas.openxmlformats.org/drawingml/2006/main">
            <a:pPr algn="l">
              <a:def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降级速率修正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7064F-3F98-4ED3-8E4F-2F7AB1EC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数据来源必须区分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D28C1-68B4-43E8-BE2C-7EB55D8A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2886 点：视图计数</a:t>
            </a:r>
          </a:p>
          <a:p xmlns:a="http://schemas.openxmlformats.org/drawingml/2006/main">
            <a:pPr algn="l">
              <a:def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1033 点：时间插值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C5B93-6C8A-4CCD-9C4C-344D146D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IVFFlat 顺序：INITIALIZE → KMEANS → ASSIGN → LOAD</a:t>
            </a:r>
          </a:p>
        </p:txBody>
      </p:sp>
    </p:spTree>
    <p:extLst>
      <p:ext uri="{BB962C8B-B14F-4D97-AF65-F5344CB8AC3E}">
        <p14:creationId xmlns:p14="http://schemas.microsoft.com/office/powerpoint/2010/main" val="4429392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DCF72-87AD-49E8-AA9E-0CF9AC2F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7B83D-6C9D-44B4-A6EA-9607EFB4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M3 量化抓出了两个真 bug：曲线合法，不代表有信息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D96E6-8C4D-442C-A969-A4D374AC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8C932-C6F4-434A-B1BC-422D3F04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B6D72-C7B0-496A-802E-38C8E19D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76305-9E49-457E-BC44-1E1DE94D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E2D4B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4603D-98C0-4C10-9AB2-90CBB2D3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695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C"/>
          </a:solidFill>
          <a:ln xmlns:a="http://schemas.openxmlformats.org/drawingml/2006/main" w="9525">
            <a:solidFill>
              <a:srgbClr val="B9CF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67D1F-F9BD-4D69-BDAB-F992A4D0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rPr>
              <a:t>缺陷一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409E6-D77E-43E7-829B-74433DF7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前序阶段按权重大小排序</a:t>
            </a:r>
          </a:p>
          <a:p xmlns:a="http://schemas.openxmlformats.org/drawingml/2006/main">
            <a:pPr algn="l">
              <a:defRPr sz="18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initializing 被排到最后</a:t>
            </a:r>
          </a:p>
          <a:p xmlns:a="http://schemas.openxmlformats.org/drawingml/2006/main">
            <a:pPr algn="l">
              <a:defRPr sz="18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第一个采样点进度 99.83%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9EF85-F336-43BF-A25D-269B86A0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rPr>
              <a:t>缺陷二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5ED26-0A27-40E4-916D-D58C83BB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19375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无计数阶段固定取 0.5</a:t>
            </a:r>
          </a:p>
          <a:p xmlns:a="http://schemas.openxmlformats.org/drawingml/2006/main">
            <a:pPr algn="l">
              <a:defRPr sz="18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k-means 阶段百分比冻结</a:t>
            </a:r>
          </a:p>
          <a:p xmlns:a="http://schemas.openxmlformats.org/drawingml/2006/main">
            <a:pPr algn="l">
              <a:defRPr sz="18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最大 ETA 偏差 226%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6A364-31B9-4F8C-87AD-720930D9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修复：阶段顺序取源码常量；阶段速率用已完成部分校准。</a:t>
            </a:r>
          </a:p>
        </p:txBody>
      </p:sp>
    </p:spTree>
    <p:extLst>
      <p:ext uri="{BB962C8B-B14F-4D97-AF65-F5344CB8AC3E}">
        <p14:creationId xmlns:p14="http://schemas.microsoft.com/office/powerpoint/2010/main" val="101070533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047E1-0826-486D-9991-B739E084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AB2F5-7F1E-4892-895E-3B9C8B4D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M3：修复后 L 档 ETA 偏差下降，M 档改善有限也如实保留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019B8-90D1-41D1-89FB-7249291B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F12B3-A5CF-403D-9401-BF2F2029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6A017-E073-415C-8D78-D87E3FF1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00050" y="1905000"/>
          <a:ext xmlns:a="http://schemas.openxmlformats.org/drawingml/2006/main" cx="72390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2381250"/>
                <a:gridCol w="2381250"/>
              </a:tblGrid>
              <a:tr h="6191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档位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修复前 flat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修复后 phase-rate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L：100 万行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42.33%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29.08%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M：30 万行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30.83%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29.31%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最大相对偏差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226%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26039-8A50-4B80-B68F-4AEB7DAB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3695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E2D4B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91F2B-C30C-450B-A062-BE503B26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383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为什么 M 档变化小？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0EFBF-2186-42D9-821B-7F61F7C6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k-means 权重只有 0.2083，主导阶段 loading 有真实计数。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283E5-4214-41CB-AA80-7889A37C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不粉饰，是结果的一部分。</a:t>
            </a:r>
          </a:p>
        </p:txBody>
      </p:sp>
    </p:spTree>
    <p:extLst>
      <p:ext uri="{BB962C8B-B14F-4D97-AF65-F5344CB8AC3E}">
        <p14:creationId xmlns:p14="http://schemas.microsoft.com/office/powerpoint/2010/main" val="403400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5C0E4-553C-4E89-8DCA-03B97EBF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5CA8D-1375-41D8-B5D7-B6D8BF6D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M2 与 M3 联动：把降级行号接入 ETA，偏差降一个量级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831B4-4371-490F-AD47-01C8D112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67805-F9F1-4371-9DB4-84B05B8A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F7DCF-5694-45C9-B3E2-F2855D43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BC5F1-5AAA-467D-82C0-0DFC15FB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8E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CCFCC-C11A-474B-8179-BAE8A024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rPr>
              <a:t>4.031×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0FCA8-1298-4D42-ACDC-EE957144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降级后每元组变慢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9D1AE-2519-4DBC-991D-96B9BBBB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8E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8F385-0272-4391-81D8-84A6D724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193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rPr>
              <a:t>59.10%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00284-2C72-4654-A26F-A2A8E548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051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朴素 ETA 全程 MAD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4EB1E-AEE8-4F7A-9269-61E6BD8C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8E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7E4AE-93F4-4E23-B56F-BC6050DE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193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9.02%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AC3F7-33B1-4144-B596-7DC8A42B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051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修正后全程 MAD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2D11D-92F7-4949-99D5-E57FCC1A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09750"/>
            <a:ext cx="2590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8E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C24B0-1BEA-4FC5-9003-A5E112B9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193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15.3%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C4E4B-DCC5-47BF-BE6F-EFEA2237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降至朴素的比例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2286000" y="4286250"/>
          <a:ext xmlns:a="http://schemas.openxmlformats.org/drawingml/2006/main" cx="7620000" cy="1524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2476500"/>
                <a:gridCol w="2667000"/>
              </a:tblGrid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区间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朴素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修正后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降级前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74.12%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19.00%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降级后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55.46%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6.59%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全程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59.10%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9.02%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09265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F0BB8-A86E-4B01-97EA-2CA04D92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F3871-7A02-4937-9704-F59BFAAC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M6：正在建索引时，也能看到风险和 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ABE23-E941-4F25-A1C3-68AF2055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6A385-0CF8-4B05-B1AB-47DBCA7C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720BC-389E-4550-BDBF-B62EAA29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E8778-FB7E-4CF3-9DF3-0B9671D8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10231F"/>
                </a:solidFill>
                <a:latin typeface="Courier New"/>
                <a:ea typeface="Courier New"/>
                <a:cs typeface="Courier New"/>
              </a:rPr>
              <a:t>vecdiag.build_monitor()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C0E81-07A0-450C-B810-A5B485CE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11391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8E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683E4-F4C5-4529-8262-DF168FDC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1F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0231F"/>
                </a:solidFill>
                <a:latin typeface="Courier New"/>
                <a:ea typeface="Courier New"/>
                <a:cs typeface="Courier New"/>
              </a:rPr>
              <a:t>PID   (building oid=0)   loading tuples   2.05%   ETA 57.5s   ⚠ 预测会降级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E13E0-D1AE-42D2-9AD5-798E7789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1F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0231F"/>
                </a:solidFill>
                <a:latin typeface="Courier New"/>
                <a:ea typeface="Courier New"/>
                <a:cs typeface="Courier New"/>
              </a:rPr>
              <a:t>PID   (building oid=0)   loading tuples  99.46%   ETA 0.3s    ⚠ 预测会降级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38195-E7E1-4046-B331-C02C97AA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198 个采样点 · 非单调点 0 · 终值 100.00% · 实时 ETA MAD 5.36%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745AE-0499-48C5-8F38-349346CD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硬限制：新索引的 pg_class 行未提交；访问方法需推断；读不到别的后端 maintenance_work_mem。</a:t>
            </a:r>
          </a:p>
        </p:txBody>
      </p:sp>
    </p:spTree>
    <p:extLst>
      <p:ext uri="{BB962C8B-B14F-4D97-AF65-F5344CB8AC3E}">
        <p14:creationId xmlns:p14="http://schemas.microsoft.com/office/powerpoint/2010/main" val="173093235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8A3E0-9103-47C7-9536-FF866592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8BC89-80AC-4ED5-832C-E37F3757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M5：参数选择从“经验”变成有来源的帕累托比较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DE9FE-8CC9-4599-A302-DF5A7D48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C8F44-FB4A-4766-BE4B-F06A356C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4D616-AFEE-4AAA-990C-438B6ACB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1666875"/>
          <a:ext xmlns:a="http://schemas.openxmlformats.org/drawingml/2006/main" cx="11391900" cy="3619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1905000"/>
                <a:gridCol w="1905000"/>
                <a:gridCol w="1809750"/>
                <a:gridCol w="3390900"/>
              </a:tblGrid>
              <a:tr h="5170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配置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构建中位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索引体积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recall@10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判定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m=8 / ef=64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8.3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71.0 MB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0.9427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前沿</a:t>
                      </a:r>
                    </a:p>
                  </a:txBody>
                  <a:tcPr marL="91440" marR="91440" marT="45720" marB="45720"/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m=8 / ef=200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23.7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71.0 MB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0.9583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被 m=16/64 支配</a:t>
                      </a:r>
                    </a:p>
                  </a:txBody>
                  <a:tcPr marL="91440" marR="91440" marT="45720" marB="45720"/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m=16 / ef=64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18.2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79.4 MB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0.9790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前沿</a:t>
                      </a:r>
                    </a:p>
                  </a:txBody>
                  <a:tcPr marL="91440" marR="91440" marT="45720" marB="45720"/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m=16 / ef=200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40.6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79.4 MB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0.9893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被 m=32/64 支配</a:t>
                      </a:r>
                    </a:p>
                  </a:txBody>
                  <a:tcPr marL="91440" marR="91440" marT="45720" marB="45720"/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m=32 / ef=64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36.8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98.1 MB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前沿</a:t>
                      </a:r>
                    </a:p>
                  </a:txBody>
                  <a:tcPr marL="91440" marR="91440" marT="45720" marB="45720"/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m=32 / ef=200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70.7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98.1 MB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前沿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6E8AB-BA27-4BEE-B6A3-E95700FD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ef_construction 不改变索引体积；m 是内存和体积的主要杠杆。</a:t>
            </a:r>
          </a:p>
        </p:txBody>
      </p:sp>
    </p:spTree>
    <p:extLst>
      <p:ext uri="{BB962C8B-B14F-4D97-AF65-F5344CB8AC3E}">
        <p14:creationId xmlns:p14="http://schemas.microsoft.com/office/powerpoint/2010/main" val="168236372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3025D-CFD7-4782-9443-0355A14C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CAA6F-A0F1-40C1-80F7-37B14798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M4：零参数体检把六个模块变成可直接执行的建议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B0EF7-E769-41BB-91B2-616F1492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60D4E-32EA-459C-A4DD-2583F6C2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F9712-316D-4D7C-991C-0CFE3B0D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A9BEA-08C7-4434-95DB-E6BFB5B4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10231F"/>
                </a:solidFill>
                <a:latin typeface="Courier New"/>
                <a:ea typeface="Courier New"/>
                <a:cs typeface="Courier New"/>
              </a:rPr>
              <a:t>vecdiag.diagnose()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00050" y="2524125"/>
          <a:ext xmlns:a="http://schemas.openxmlformats.org/drawingml/2006/main" cx="11391900" cy="2667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8915400"/>
              </a:tblGrid>
              <a:tr h="5334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输出要素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示例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problem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预计在第 218481 行左右发生落盘降级</a:t>
                      </a:r>
                    </a:p>
                  </a:txBody>
                  <a:tcPr marL="91440" marR="91440" marT="45720" marB="45720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cause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图内存 1172 MB 超过 maintenance_work_mem=256 MB</a:t>
                      </a:r>
                    </a:p>
                  </a:txBody>
                  <a:tcPr marL="91440" marR="91440" marT="45720" marB="45720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SET maintenance_work_mem='1348MB'; 再建索引</a:t>
                      </a:r>
                    </a:p>
                  </a:txBody>
                  <a:tcPr marL="91440" marR="91440" marT="45720" marB="45720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重建后 NOTICE 应消失；区间可重新计算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67C20-4226-49AC-9D34-99241F1A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零参数不是少信息，而是自动读取当前索引目录和参数。</a:t>
            </a:r>
          </a:p>
        </p:txBody>
      </p:sp>
    </p:spTree>
    <p:extLst>
      <p:ext uri="{BB962C8B-B14F-4D97-AF65-F5344CB8AC3E}">
        <p14:creationId xmlns:p14="http://schemas.microsoft.com/office/powerpoint/2010/main" val="144998633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C39E8-16BE-4C0B-8D9B-FBBACC66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E8348-73A2-46B5-9FC0-6068946C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异常场景的核心门禁：绝不允许模型过度乐观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DEDF8-40FD-4F93-832B-88F774D0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CC3DD-D490-4FCE-B252-15D8F986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F1FC0-BAF4-46E0-A7EF-41D112FD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C7863-496F-41EC-AF8E-A93B6D4F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8E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1AAD7-7A46-4248-9F0E-B26E3369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669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18/18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5EC37-F364-46CF-AF3E-2263E0CA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异常用例正确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1B717-6A5A-4742-B28E-86E52260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57375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8E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8F88C-C63A-4CC9-8470-13552291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669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3181E-D3E8-4B11-8647-0D5BCEAE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527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DANGEROUS 用例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95FE5-9718-4E08-BD43-8493F705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57375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8E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F16A8-E59A-4ED1-B3EC-34842D5B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669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 kB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84AD0-EB04-48E9-845F-4A348213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527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内存边界精度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4E950-8E8C-468F-B86E-C9E1852F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57375"/>
            <a:ext cx="2590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8E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E5D5A-4530-4F05-B7C5-B6B9DD5F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66925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19/19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2B4CB-D6E5-4178-8EDA-619FAA10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52725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TAP 通过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CD034-A1C9-479B-8C06-AF1B6B0C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need kB 建成，need−1 kB 报错。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AD8973-819F-4ADB-B2A7-D43E6017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模型说能建、实际却建不起来的危险方向，脚本直接判 DANGEROUS 并非零退出。</a:t>
            </a:r>
          </a:p>
        </p:txBody>
      </p:sp>
    </p:spTree>
    <p:extLst>
      <p:ext uri="{BB962C8B-B14F-4D97-AF65-F5344CB8AC3E}">
        <p14:creationId xmlns:p14="http://schemas.microsoft.com/office/powerpoint/2010/main" val="123597787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2A87C-C270-48C0-809D-1602E294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07B31-47F6-4BC1-9CC6-7153AB0E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两台机器：相同基线，不同资源，结果分开归档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0DA81-AEB7-4BA1-8873-82B0C059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780D8-4589-4B9E-817E-357CC285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5B4D2-C2EF-4E99-A6F1-838675FD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3919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86000"/>
                <a:gridCol w="4572000"/>
                <a:gridCol w="4533900"/>
              </a:tblGrid>
              <a:tr h="6286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CentOS 7 主实验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Rocky 8.10 跨机复验</a:t>
                      </a:r>
                    </a:p>
                  </a:txBody>
                  <a:tcPr marL="91440" marR="91440" marT="45720" marB="45720">
                    <a:solidFill>
                      <a:srgbClr val="E8F1E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资源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vCPU / 3788 MB / 2 GB swap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vCPU / 7665 MB / 4 GB swap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编译器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GCC 11.2.1 devtoolset-11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GCC 12.2.1 gcc-toolset-12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安全策略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SELinux Enforcing（记录中途变化）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SELinux Disabled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用途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M1-M6 主结果与图表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M2 重拟合、全量复验与迁移性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73113-8110-42BF-90A0-6FDC1856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A84B43"/>
                </a:solidFill>
                <a:latin typeface="Helvetica Neue"/>
                <a:ea typeface="Helvetica Neue"/>
                <a:cs typeface="Helvetica Neue"/>
              </a:rPr>
              <a:t>耗时结论受 swap、虚拟机和资源差异影响，不能跨机器直接比较绝对时长。</a:t>
            </a:r>
          </a:p>
        </p:txBody>
      </p:sp>
    </p:spTree>
    <p:extLst>
      <p:ext uri="{BB962C8B-B14F-4D97-AF65-F5344CB8AC3E}">
        <p14:creationId xmlns:p14="http://schemas.microsoft.com/office/powerpoint/2010/main" val="163061657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A512F-A476-4D9D-8BDE-51036D2E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2DFDB-9415-48B8-8184-2C66DAE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回归结果：证据链比一张漂亮的结果图更重要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8496A-8006-482B-B323-AC1FB5CC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E1499-1B8A-4F0E-BC87-0D171F1F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BD114-072E-437F-B5B1-FE18005B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9D85C-54F1-4C40-B981-08D356FC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10231F"/>
                </a:solidFill>
                <a:latin typeface="Courier New"/>
                <a:ea typeface="Courier New"/>
                <a:cs typeface="Courier New"/>
              </a:rPr>
              <a:t>bash vecdiag/reproduce.sh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E399F-E3BC-4E9A-90B8-B81A7707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• M1 20/20 PASS；18/18 报错逐字命中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231B6-DD28-4BE2-AC09-054C4D70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• M2 区间 11/11 覆盖；外样本 0.12%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9B7C3-417B-445C-A635-9C7FA86A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• M3 3919 个采样点单调；来源可区分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E5C13-A36D-4DC8-9636-E66BEB81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• T4.4 18/18 correct；DANGEROUS=0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DA221-4FD3-461E-B83D-A17658F8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• TAP 19/19；上游 installcheck 14/14；prove 1250/1250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CA8CC-E74D-429C-9B7E-8B03ACEA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每轮产物：CSV + 原始 stderr + SHA256SUMS + env.txt</a:t>
            </a:r>
          </a:p>
        </p:txBody>
      </p:sp>
    </p:spTree>
    <p:extLst>
      <p:ext uri="{BB962C8B-B14F-4D97-AF65-F5344CB8AC3E}">
        <p14:creationId xmlns:p14="http://schemas.microsoft.com/office/powerpoint/2010/main" val="95094172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3A32C-01DE-4346-A4E3-1FF4601D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OpenTenBase · 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6DC1D-895B-4E08-B9FE-D2ECBF06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最后的边界：我们交付的是诊断能力，不是万能承诺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4788E-58C5-4D45-A755-0567A420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C4"/>
          </a:solidFill>
          <a:ln xmlns:a="http://schemas.openxmlformats.org/drawingml/2006/main" w="0">
            <a:solidFill>
              <a:srgbClr val="B9CF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E3EB5-DF4D-4F3B-AB6C-C9A7E231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证据：vecdiag/results/ · 同步点 c5c1287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B7D71-25A2-4454-B690-F9359925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7069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B4482-1347-4410-9635-4A4DB4EF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• 只覆盖 pgvector v0.8.6 的 vector 类型；其他向量类型未验证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04BF9-CE44-48D8-AEBC-AA7D471B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• 跨架构、跨块大小、跨编译器必须重跑 ABI 探针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CF061-41FF-49B6-AFFC-7562B45B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• M2 拟合项仍标 fitted；换版本或机器需要重标定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C5A6F-5C8B-4E2A-8127-B33231E3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• M3 权重依赖数据分布与规模；不可用组保留但禁止消费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F5063-C090-4289-B4DF-972DABF6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• 并行构建、TOAST 高维和统计估计误差已写入局限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05179-90FA-4D81-AD78-3B604AD9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31F"/>
                </a:solidFill>
                <a:latin typeface="Helvetica Neue"/>
                <a:ea typeface="Helvetica Neue"/>
                <a:cs typeface="Helvetica Neue"/>
              </a:rPr>
              <a:t>• 最终提交物：本仓库 report/ 下的 PDF 与 PPT；PPT 之外的脚本不作为主提交文件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FDC46-8F1B-49F9-BD58-6D798016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E8B78"/>
                </a:solidFill>
                <a:latin typeface="Helvetica Neue"/>
                <a:ea typeface="Helvetica Neue"/>
                <a:cs typeface="Helvetica Neue"/>
              </a:rPr>
              <a:t>把没测过的边界写出来，是这份报告可信度的一部分。</a:t>
            </a:r>
          </a:p>
        </p:txBody>
      </p:sp>
    </p:spTree>
    <p:extLst>
      <p:ext uri="{BB962C8B-B14F-4D97-AF65-F5344CB8AC3E}">
        <p14:creationId xmlns:p14="http://schemas.microsoft.com/office/powerpoint/2010/main" val="12494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2026-08-28T09:18:00.7450000Z</dcterms:created>
  <dcterms:modified xsi:type="dcterms:W3CDTF">2026-08-28T09:18:00.7460000Z</dcterms:modified>
</coreProperties>
</file>